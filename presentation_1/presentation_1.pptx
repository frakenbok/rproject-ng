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433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9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3200400"/>
            <a:ext cx="3657600" cy="3657600"/>
          </a:xfrm>
          <a:prstGeom prst="ellipse">
            <a:avLst/>
          </a:prstGeom>
          <a:ln w="9525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79815" y="3246120"/>
            <a:ext cx="3566160" cy="3566160"/>
          </a:xfrm>
          <a:prstGeom prst="ellipse">
            <a:avLst/>
          </a:prstGeom>
          <a:ln w="9525">
            <a:solidFill>
              <a:srgbClr val="065A8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25535" y="3291840"/>
            <a:ext cx="3474720" cy="3474720"/>
          </a:xfrm>
          <a:prstGeom prst="ellipse">
            <a:avLst/>
          </a:prstGeom>
          <a:ln w="9525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71255" y="3337560"/>
            <a:ext cx="3383280" cy="3383280"/>
          </a:xfrm>
          <a:prstGeom prst="ellipse">
            <a:avLst/>
          </a:prstGeom>
          <a:ln w="9525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05695" y="4572000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9082735" y="1097280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640080"/>
            <a:ext cx="146304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40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1400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ETL pipeline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АНАЛИЗ ИСХОДНОГО КОДА · ТЕХНИЧЕСКИЙ РАЗБОР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ETL-механизм проекта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9728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АВТОРЫ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Вахрамеев Александр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Пришедько Ярослав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Кобяк Михаил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36815" y="6217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 →  R  →  ClickHouse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91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КОНТЕКСТ И ПОСТАНОВКА ЗАДАЧИ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нужен этот ETL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0848" y="155448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0848" y="1554480"/>
            <a:ext cx="3657600" cy="54864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8" y="17830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2408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ИСТОЧНИК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32408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CapTipper JSON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6608" y="26060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Дамп HTTP-трафика, полученный из PCAP-файлов. Содержит метаданные сессии, атрибуты клиента, дерево потоков и артефакты HTTP-ответов: тело, хеши, magic-сигнатуры, PE-info.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67048" y="155448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67048" y="1554480"/>
            <a:ext cx="3657600" cy="54864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808" y="17830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18608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ОБРАБОТКА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318608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на R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632808" y="26060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tidyverse-стек естественен для разбора вложенных JSON и нормализации в плоские таблицы. Шесть R-модулей: от загрузки из S3 до записи в БД.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53248" y="155448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53248" y="1554480"/>
            <a:ext cx="3657600" cy="54864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9008" y="178308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04808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ВИТРИНА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9204808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ClickHouse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519008" y="26060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Колоночная СУБД для быстрых аналитических запросов по миллионам HTTP-артефактов. MergeTree-таблицы со специально подобранным ключом сортировки.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80848" y="5212080"/>
            <a:ext cx="11430000" cy="914400"/>
          </a:xfrm>
          <a:prstGeom prst="rect">
            <a:avLst/>
          </a:prstGeom>
          <a:solidFill>
            <a:srgbClr val="11253E"/>
          </a:solidFill>
          <a:ln/>
        </p:spPr>
      </p:sp>
      <p:sp>
        <p:nvSpPr>
          <p:cNvPr id="24" name="Text 19"/>
          <p:cNvSpPr/>
          <p:nvPr/>
        </p:nvSpPr>
        <p:spPr>
          <a:xfrm>
            <a:off x="655168" y="5212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превратить разрозненные дампы вредоносного HTTP-трафика в структурированный,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запрашиваемый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версионируемый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таблиц для последующего DFIR-анализа.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RPRoject-ng · ETL-механизм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91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ОПЦИОНАЛЬНОЕ РАСШИРЕНИЕ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TCP-сессии из Zeek conn.log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8008" y="1554480"/>
            <a:ext cx="18288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948" y="171907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448" y="2267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.pcap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9448" y="2514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дамп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392528" y="1920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849728" y="1554480"/>
            <a:ext cx="18288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668" y="171907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1168" y="2267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Zeek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41168" y="2514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шаг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724248" y="1920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181448" y="1554480"/>
            <a:ext cx="1828800" cy="1188720"/>
          </a:xfrm>
          <a:prstGeom prst="rect">
            <a:avLst/>
          </a:prstGeom>
          <a:solidFill>
            <a:srgbClr val="11253E"/>
          </a:solidFill>
          <a:ln w="9525">
            <a:solidFill>
              <a:srgbClr val="11253E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181448" y="155448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388" y="1719072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72888" y="2267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conn.log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272888" y="2514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NDJSON в S3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7055968" y="1920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7513168" y="1554480"/>
            <a:ext cx="1828800" cy="1188720"/>
          </a:xfrm>
          <a:prstGeom prst="rect">
            <a:avLst/>
          </a:prstGeom>
          <a:solidFill>
            <a:srgbClr val="11253E"/>
          </a:solidFill>
          <a:ln w="9525">
            <a:solidFill>
              <a:srgbClr val="11253E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513168" y="155448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6108" y="1719072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04608" y="2267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ETL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604608" y="2514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get_s3_ndjson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9387688" y="1920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9844888" y="1554480"/>
            <a:ext cx="1828800" cy="1188720"/>
          </a:xfrm>
          <a:prstGeom prst="rect">
            <a:avLst/>
          </a:prstGeom>
          <a:solidFill>
            <a:srgbClr val="11253E"/>
          </a:solidFill>
          <a:ln w="9525">
            <a:solidFill>
              <a:srgbClr val="11253E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844888" y="155448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7828" y="1719072"/>
            <a:ext cx="502920" cy="5029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936328" y="2267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tcp_sessions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9936328" y="2514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в CH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518008" y="278892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ВНЕ ПАЙПЛАЙНА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181448" y="278892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ВНУТРИ ПАЙПЛАЙНА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02920" y="3246120"/>
            <a:ext cx="598932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502920" y="3246120"/>
            <a:ext cx="5989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3474720"/>
            <a:ext cx="457200" cy="4572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371600" y="3429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tcp_sessions</a:t>
            </a:r>
            <a:endParaRPr lang="en-US" sz="1800" dirty="0"/>
          </a:p>
        </p:txBody>
      </p:sp>
      <p:sp>
        <p:nvSpPr>
          <p:cNvPr id="38" name="Shape 30"/>
          <p:cNvSpPr/>
          <p:nvPr/>
        </p:nvSpPr>
        <p:spPr>
          <a:xfrm>
            <a:off x="4983480" y="3493008"/>
            <a:ext cx="128016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/>
        </p:spPr>
      </p:sp>
      <p:sp>
        <p:nvSpPr>
          <p:cNvPr id="39" name="Text 31"/>
          <p:cNvSpPr/>
          <p:nvPr/>
        </p:nvSpPr>
        <p:spPr>
          <a:xfrm>
            <a:off x="4983480" y="34930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полей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77724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2194560" y="4005072"/>
            <a:ext cx="397764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2194560" y="4005072"/>
            <a:ext cx="3977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2656332" y="4005072"/>
            <a:ext cx="32004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2656332" y="40050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77724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АДРЕСА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2194560" y="4352544"/>
            <a:ext cx="630936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2194560" y="4352544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orig_h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2889504" y="4352544"/>
            <a:ext cx="630936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2889504" y="4352544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orig_p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3584448" y="4352544"/>
            <a:ext cx="630936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3584448" y="4352544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resp_h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4279392" y="4352544"/>
            <a:ext cx="630936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4279392" y="4352544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resp_p</a:t>
            </a:r>
            <a:endParaRPr lang="en-US" sz="1000" dirty="0"/>
          </a:p>
        </p:txBody>
      </p:sp>
      <p:sp>
        <p:nvSpPr>
          <p:cNvPr id="54" name="Text 46"/>
          <p:cNvSpPr/>
          <p:nvPr/>
        </p:nvSpPr>
        <p:spPr>
          <a:xfrm>
            <a:off x="777240" y="4718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ТРАНСПОРТ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2194560" y="4700016"/>
            <a:ext cx="553212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2194560" y="4700016"/>
            <a:ext cx="553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</a:t>
            </a:r>
            <a:endParaRPr lang="en-US" sz="1000" dirty="0"/>
          </a:p>
        </p:txBody>
      </p:sp>
      <p:sp>
        <p:nvSpPr>
          <p:cNvPr id="57" name="Shape 49"/>
          <p:cNvSpPr/>
          <p:nvPr/>
        </p:nvSpPr>
        <p:spPr>
          <a:xfrm>
            <a:off x="2811780" y="4700016"/>
            <a:ext cx="70866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2811780" y="4700016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3584448" y="4700016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3584448" y="47000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duration_sec</a:t>
            </a:r>
            <a:endParaRPr lang="en-US" sz="1000" dirty="0"/>
          </a:p>
        </p:txBody>
      </p:sp>
      <p:sp>
        <p:nvSpPr>
          <p:cNvPr id="61" name="Text 53"/>
          <p:cNvSpPr/>
          <p:nvPr/>
        </p:nvSpPr>
        <p:spPr>
          <a:xfrm>
            <a:off x="777240" y="5065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ОБЪЁМЫ</a:t>
            </a:r>
            <a:endParaRPr lang="en-US" sz="900" dirty="0"/>
          </a:p>
        </p:txBody>
      </p:sp>
      <p:sp>
        <p:nvSpPr>
          <p:cNvPr id="62" name="Shape 54"/>
          <p:cNvSpPr/>
          <p:nvPr/>
        </p:nvSpPr>
        <p:spPr>
          <a:xfrm>
            <a:off x="2194560" y="5047488"/>
            <a:ext cx="941832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2194560" y="504748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orig_bytes</a:t>
            </a:r>
            <a:endParaRPr lang="en-US" sz="1000" dirty="0"/>
          </a:p>
        </p:txBody>
      </p:sp>
      <p:sp>
        <p:nvSpPr>
          <p:cNvPr id="64" name="Shape 56"/>
          <p:cNvSpPr/>
          <p:nvPr/>
        </p:nvSpPr>
        <p:spPr>
          <a:xfrm>
            <a:off x="3200400" y="5047488"/>
            <a:ext cx="941832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65" name="Text 57"/>
          <p:cNvSpPr/>
          <p:nvPr/>
        </p:nvSpPr>
        <p:spPr>
          <a:xfrm>
            <a:off x="3200400" y="504748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resp_bytes</a:t>
            </a:r>
            <a:endParaRPr lang="en-US" sz="1000" dirty="0"/>
          </a:p>
        </p:txBody>
      </p:sp>
      <p:sp>
        <p:nvSpPr>
          <p:cNvPr id="66" name="Shape 58"/>
          <p:cNvSpPr/>
          <p:nvPr/>
        </p:nvSpPr>
        <p:spPr>
          <a:xfrm>
            <a:off x="4206240" y="5047488"/>
            <a:ext cx="630936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4206240" y="5047488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*_pkts</a:t>
            </a:r>
            <a:endParaRPr lang="en-US" sz="1000" dirty="0"/>
          </a:p>
        </p:txBody>
      </p:sp>
      <p:sp>
        <p:nvSpPr>
          <p:cNvPr id="68" name="Shape 60"/>
          <p:cNvSpPr/>
          <p:nvPr/>
        </p:nvSpPr>
        <p:spPr>
          <a:xfrm>
            <a:off x="4901184" y="5047488"/>
            <a:ext cx="941832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69" name="Text 61"/>
          <p:cNvSpPr/>
          <p:nvPr/>
        </p:nvSpPr>
        <p:spPr>
          <a:xfrm>
            <a:off x="4901184" y="504748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*_ip_bytes</a:t>
            </a:r>
            <a:endParaRPr lang="en-US" sz="1000" dirty="0"/>
          </a:p>
        </p:txBody>
      </p:sp>
      <p:sp>
        <p:nvSpPr>
          <p:cNvPr id="70" name="Text 62"/>
          <p:cNvSpPr/>
          <p:nvPr/>
        </p:nvSpPr>
        <p:spPr>
          <a:xfrm>
            <a:off x="777240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СОСТОЯНИЕ</a:t>
            </a:r>
            <a:endParaRPr lang="en-US" sz="900" dirty="0"/>
          </a:p>
        </p:txBody>
      </p:sp>
      <p:sp>
        <p:nvSpPr>
          <p:cNvPr id="71" name="Shape 63"/>
          <p:cNvSpPr/>
          <p:nvPr/>
        </p:nvSpPr>
        <p:spPr>
          <a:xfrm>
            <a:off x="2194560" y="5394960"/>
            <a:ext cx="941832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72" name="Text 64"/>
          <p:cNvSpPr/>
          <p:nvPr/>
        </p:nvSpPr>
        <p:spPr>
          <a:xfrm>
            <a:off x="2194560" y="539496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conn_state</a:t>
            </a:r>
            <a:endParaRPr lang="en-US" sz="1000" dirty="0"/>
          </a:p>
        </p:txBody>
      </p:sp>
      <p:sp>
        <p:nvSpPr>
          <p:cNvPr id="73" name="Shape 65"/>
          <p:cNvSpPr/>
          <p:nvPr/>
        </p:nvSpPr>
        <p:spPr>
          <a:xfrm>
            <a:off x="3200400" y="5394960"/>
            <a:ext cx="70866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74" name="Text 66"/>
          <p:cNvSpPr/>
          <p:nvPr/>
        </p:nvSpPr>
        <p:spPr>
          <a:xfrm>
            <a:off x="3200400" y="5394960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en-US" sz="1000" dirty="0"/>
          </a:p>
        </p:txBody>
      </p:sp>
      <p:sp>
        <p:nvSpPr>
          <p:cNvPr id="75" name="Shape 67"/>
          <p:cNvSpPr/>
          <p:nvPr/>
        </p:nvSpPr>
        <p:spPr>
          <a:xfrm>
            <a:off x="3973068" y="539496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76" name="Text 68"/>
          <p:cNvSpPr/>
          <p:nvPr/>
        </p:nvSpPr>
        <p:spPr>
          <a:xfrm>
            <a:off x="3973068" y="5394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missed_bytes</a:t>
            </a:r>
            <a:endParaRPr lang="en-US" sz="1000" dirty="0"/>
          </a:p>
        </p:txBody>
      </p:sp>
      <p:sp>
        <p:nvSpPr>
          <p:cNvPr id="77" name="Text 69"/>
          <p:cNvSpPr/>
          <p:nvPr/>
        </p:nvSpPr>
        <p:spPr>
          <a:xfrm>
            <a:off x="777240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КОНТЕКСТ</a:t>
            </a:r>
            <a:endParaRPr lang="en-US" sz="900" dirty="0"/>
          </a:p>
        </p:txBody>
      </p:sp>
      <p:sp>
        <p:nvSpPr>
          <p:cNvPr id="78" name="Shape 70"/>
          <p:cNvSpPr/>
          <p:nvPr/>
        </p:nvSpPr>
        <p:spPr>
          <a:xfrm>
            <a:off x="2194560" y="5742432"/>
            <a:ext cx="941832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79" name="Text 71"/>
          <p:cNvSpPr/>
          <p:nvPr/>
        </p:nvSpPr>
        <p:spPr>
          <a:xfrm>
            <a:off x="2194560" y="5742432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local_orig</a:t>
            </a:r>
            <a:endParaRPr lang="en-US" sz="1000" dirty="0"/>
          </a:p>
        </p:txBody>
      </p:sp>
      <p:sp>
        <p:nvSpPr>
          <p:cNvPr id="80" name="Shape 72"/>
          <p:cNvSpPr/>
          <p:nvPr/>
        </p:nvSpPr>
        <p:spPr>
          <a:xfrm>
            <a:off x="3200400" y="5742432"/>
            <a:ext cx="941832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81" name="Text 73"/>
          <p:cNvSpPr/>
          <p:nvPr/>
        </p:nvSpPr>
        <p:spPr>
          <a:xfrm>
            <a:off x="3200400" y="5742432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local_resp</a:t>
            </a:r>
            <a:endParaRPr lang="en-US" sz="1000" dirty="0"/>
          </a:p>
        </p:txBody>
      </p:sp>
      <p:sp>
        <p:nvSpPr>
          <p:cNvPr id="82" name="Shape 74"/>
          <p:cNvSpPr/>
          <p:nvPr/>
        </p:nvSpPr>
        <p:spPr>
          <a:xfrm>
            <a:off x="6675120" y="3246120"/>
            <a:ext cx="50749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83" name="Shape 75"/>
          <p:cNvSpPr/>
          <p:nvPr/>
        </p:nvSpPr>
        <p:spPr>
          <a:xfrm>
            <a:off x="6675120" y="3246120"/>
            <a:ext cx="64008" cy="13258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8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6288" y="3401568"/>
            <a:ext cx="457200" cy="457200"/>
          </a:xfrm>
          <a:prstGeom prst="rect">
            <a:avLst/>
          </a:prstGeom>
        </p:spPr>
      </p:pic>
      <p:sp>
        <p:nvSpPr>
          <p:cNvPr id="85" name="Text 76"/>
          <p:cNvSpPr/>
          <p:nvPr/>
        </p:nvSpPr>
        <p:spPr>
          <a:xfrm>
            <a:off x="7452360" y="33375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Триггер: env-переменная</a:t>
            </a:r>
            <a:endParaRPr lang="en-US" sz="1400" dirty="0"/>
          </a:p>
        </p:txBody>
      </p:sp>
      <p:sp>
        <p:nvSpPr>
          <p:cNvPr id="86" name="Text 77"/>
          <p:cNvSpPr/>
          <p:nvPr/>
        </p:nvSpPr>
        <p:spPr>
          <a:xfrm>
            <a:off x="7452360" y="3630168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S3_CONN_LOG_PREFIX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имя файла в S3-бакете.
Не задана → шаг пропускается, пайплайн работает как раньше. Задана → скачивается через </a:t>
            </a: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get_s3_ndjson()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87" name="Shape 78"/>
          <p:cNvSpPr/>
          <p:nvPr/>
        </p:nvSpPr>
        <p:spPr>
          <a:xfrm>
            <a:off x="6675120" y="4636008"/>
            <a:ext cx="5074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88" name="Shape 79"/>
          <p:cNvSpPr/>
          <p:nvPr/>
        </p:nvSpPr>
        <p:spPr>
          <a:xfrm>
            <a:off x="6675120" y="4636008"/>
            <a:ext cx="64008" cy="14173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8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76288" y="4818888"/>
            <a:ext cx="457200" cy="457200"/>
          </a:xfrm>
          <a:prstGeom prst="rect">
            <a:avLst/>
          </a:prstGeom>
        </p:spPr>
      </p:pic>
      <p:sp>
        <p:nvSpPr>
          <p:cNvPr id="90" name="Text 80"/>
          <p:cNvSpPr/>
          <p:nvPr/>
        </p:nvSpPr>
        <p:spPr>
          <a:xfrm>
            <a:off x="7452360" y="47365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Формат NDJSON · фильтр TCP</a:t>
            </a:r>
            <a:endParaRPr lang="en-US" sz="1400" dirty="0"/>
          </a:p>
        </p:txBody>
      </p:sp>
      <p:sp>
        <p:nvSpPr>
          <p:cNvPr id="91" name="Text 81"/>
          <p:cNvSpPr/>
          <p:nvPr/>
        </p:nvSpPr>
        <p:spPr>
          <a:xfrm>
            <a:off x="7452360" y="502920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JSON-объект на строку — родной формат Zeek с </a:t>
            </a: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LogAscii::use_json=T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Пайплайн оставляет только TCP — UDP и ICMP отбрасываются на этапе нормализации.</a:t>
            </a:r>
            <a:endParaRPr lang="en-US" sz="1100" dirty="0"/>
          </a:p>
        </p:txBody>
      </p:sp>
      <p:sp>
        <p:nvSpPr>
          <p:cNvPr id="92" name="Shape 82"/>
          <p:cNvSpPr/>
          <p:nvPr/>
        </p:nvSpPr>
        <p:spPr>
          <a:xfrm>
            <a:off x="502920" y="6172200"/>
            <a:ext cx="11201400" cy="365760"/>
          </a:xfrm>
          <a:prstGeom prst="rect">
            <a:avLst/>
          </a:prstGeom>
          <a:solidFill>
            <a:srgbClr val="11253E"/>
          </a:solidFill>
          <a:ln/>
        </p:spPr>
      </p:sp>
      <p:sp>
        <p:nvSpPr>
          <p:cNvPr id="93" name="Text 83"/>
          <p:cNvSpPr/>
          <p:nvPr/>
        </p:nvSpPr>
        <p:spPr>
          <a:xfrm>
            <a:off x="68580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 HTTP: 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tcp_sessions ⨝ conversation_artifacts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</a:t>
            </a: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(orig_h, orig_p, resp_h, resp_p, ts)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связь по </a:t>
            </a: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следующий шаг</a:t>
            </a:r>
            <a:endParaRPr lang="en-US" sz="1200" dirty="0"/>
          </a:p>
        </p:txBody>
      </p:sp>
      <p:sp>
        <p:nvSpPr>
          <p:cNvPr id="94" name="Text 84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RPRoject-ng · ETL-механизм</a:t>
            </a:r>
            <a:endParaRPr lang="en-US" sz="900" dirty="0"/>
          </a:p>
        </p:txBody>
      </p:sp>
      <p:sp>
        <p:nvSpPr>
          <p:cNvPr id="95" name="Text 85"/>
          <p:cNvSpPr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91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ПОТОК ДАННЫХ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высокого уровня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92328" y="1554480"/>
            <a:ext cx="3291840" cy="2103120"/>
          </a:xfrm>
          <a:prstGeom prst="rect">
            <a:avLst/>
          </a:prstGeom>
          <a:solidFill>
            <a:srgbClr val="065A82"/>
          </a:solidFill>
          <a:ln/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804008" y="16002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9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8" y="18745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2368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112368" y="2971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→ JSON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12368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s3_io.R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49928" y="1554480"/>
            <a:ext cx="3291840" cy="2103120"/>
          </a:xfrm>
          <a:prstGeom prst="rect">
            <a:avLst/>
          </a:prstGeom>
          <a:solidFill>
            <a:srgbClr val="1C7293"/>
          </a:solidFill>
          <a:ln/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61608" y="16002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9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968" y="187452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69968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4769968" y="2971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normalize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769968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parsing.R + normalization.R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07528" y="1554480"/>
            <a:ext cx="3291840" cy="2103120"/>
          </a:xfrm>
          <a:prstGeom prst="rect">
            <a:avLst/>
          </a:prstGeom>
          <a:solidFill>
            <a:srgbClr val="0E7490"/>
          </a:solidFill>
          <a:ln/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10119208" y="16002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9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7568" y="187452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27568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8427568" y="2971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+ insert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427568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clickhouse_io.R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129888" y="2331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7787488" y="2331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502920" y="4160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R-МОДУЛИ ПАЙПЛАЙНА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92328" y="4526280"/>
            <a:ext cx="16764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92328" y="4526280"/>
            <a:ext cx="54864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3"/>
          <p:cNvSpPr/>
          <p:nvPr/>
        </p:nvSpPr>
        <p:spPr>
          <a:xfrm>
            <a:off x="956920" y="466344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main.R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956920" y="5029200"/>
            <a:ext cx="144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оркестрация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2560168" y="4526280"/>
            <a:ext cx="16764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2560168" y="4526280"/>
            <a:ext cx="54864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2" name="Text 27"/>
          <p:cNvSpPr/>
          <p:nvPr/>
        </p:nvSpPr>
        <p:spPr>
          <a:xfrm>
            <a:off x="2724760" y="466344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s3_io.R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2724760" y="5029200"/>
            <a:ext cx="144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JSON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4328008" y="4526280"/>
            <a:ext cx="16764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4328008" y="4526280"/>
            <a:ext cx="54864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Text 31"/>
          <p:cNvSpPr/>
          <p:nvPr/>
        </p:nvSpPr>
        <p:spPr>
          <a:xfrm>
            <a:off x="4492600" y="466344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parsing.R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4492600" y="5029200"/>
            <a:ext cx="144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CapTipper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6095848" y="4526280"/>
            <a:ext cx="16764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6095848" y="4526280"/>
            <a:ext cx="54864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Text 35"/>
          <p:cNvSpPr/>
          <p:nvPr/>
        </p:nvSpPr>
        <p:spPr>
          <a:xfrm>
            <a:off x="6260440" y="466344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normalization.R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6260440" y="5029200"/>
            <a:ext cx="144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приведение типов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7863688" y="4526280"/>
            <a:ext cx="16764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7863688" y="4526280"/>
            <a:ext cx="54864" cy="1188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4" name="Text 39"/>
          <p:cNvSpPr/>
          <p:nvPr/>
        </p:nvSpPr>
        <p:spPr>
          <a:xfrm>
            <a:off x="8028280" y="466344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clickhouse_io.R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8028280" y="5029200"/>
            <a:ext cx="144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+ insert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9631528" y="4526280"/>
            <a:ext cx="16764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9631528" y="4526280"/>
            <a:ext cx="54864" cy="11887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8" name="Text 43"/>
          <p:cNvSpPr/>
          <p:nvPr/>
        </p:nvSpPr>
        <p:spPr>
          <a:xfrm>
            <a:off x="9796120" y="466344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utils.R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9796120" y="5029200"/>
            <a:ext cx="144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</a:t>
            </a:r>
            <a:endParaRPr lang="en-US" sz="1100" dirty="0"/>
          </a:p>
        </p:txBody>
      </p:sp>
      <p:sp>
        <p:nvSpPr>
          <p:cNvPr id="50" name="Text 45"/>
          <p:cNvSpPr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Инфраструктура: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(ClickHouse + ETL-сервис) · образ </a:t>
            </a: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rocker/tidyverse:4.3.2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конфигурация через </a:t>
            </a: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300" dirty="0"/>
          </a:p>
        </p:txBody>
      </p:sp>
      <p:sp>
        <p:nvSpPr>
          <p:cNvPr id="51" name="Text 46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RPRoject-ng · ETL-механизм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91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ЭТАП 1 · S3_IO.R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— загрузка JSON-дампа из S3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1206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64008" cy="4572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ШАГИ ИЗВЛЕЧЕНИЯ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993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Сбор переменных окружения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2677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двух соглашений: AWS_* (новое) и S3_* (легаси). Фолбэк на пустую строку.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85292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Сборка URL объекта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108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= trim(/) от endpoint или bucket → url = base + / + item_name.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69417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94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3675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Скачивание во временный файл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9502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download.file(method = "libcurl"). HTTP-ошибки 4xx/5xx ловятся через warning → stop.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53542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35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45171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Перекодировка байтов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7914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latin1 → iconv(latin1, UTF-8, sub = ""). Невалидные байты в hexpeek заменяются.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537667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376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53583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Парсинг JSON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63270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jsonlite::fromJSON(simplifyVector = FALSE) — сохраняем вложенную list-структуру.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52160" y="1554480"/>
            <a:ext cx="5852160" cy="3291840"/>
          </a:xfrm>
          <a:prstGeom prst="rect">
            <a:avLst/>
          </a:prstGeom>
          <a:solidFill>
            <a:srgbClr val="0B1929"/>
          </a:solidFill>
          <a:ln/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52160" y="1554480"/>
            <a:ext cx="5852160" cy="365760"/>
          </a:xfrm>
          <a:prstGeom prst="rect">
            <a:avLst/>
          </a:prstGeom>
          <a:solidFill>
            <a:srgbClr val="11253E"/>
          </a:solidFill>
          <a:ln/>
        </p:spPr>
      </p:sp>
      <p:sp>
        <p:nvSpPr>
          <p:cNvPr id="30" name="Shape 28"/>
          <p:cNvSpPr/>
          <p:nvPr/>
        </p:nvSpPr>
        <p:spPr>
          <a:xfrm>
            <a:off x="5989320" y="167335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Shape 29"/>
          <p:cNvSpPr/>
          <p:nvPr/>
        </p:nvSpPr>
        <p:spPr>
          <a:xfrm>
            <a:off x="6190488" y="167335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6391656" y="167335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s3_io.R · get_s3_item()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80760" y="201168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(jsonlite)
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get_s3_item </a:t>
            </a: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</a:t>
            </a: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(url, item) {
  endpoint &lt;- </a:t>
            </a: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Sys.getenv</a:t>
            </a: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("AWS_*" | "S3_*")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download.file(url, tmp, </a:t>
            </a: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method=</a:t>
            </a: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"libcurl"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  raw  &lt;- </a:t>
            </a: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readBin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(tmp, "raw", n=size)
  txt  &lt;- </a:t>
            </a: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iconv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rawToChar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(raw),
                 from=</a:t>
            </a: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"latin1"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to=</a:t>
            </a: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sub=</a:t>
            </a: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fromJSON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(txt, simplifyVector=</a:t>
            </a: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852160" y="5029200"/>
            <a:ext cx="58521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852160" y="502920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5212080"/>
            <a:ext cx="411480" cy="41148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583680" y="50749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latin1 → UTF-8?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583680" y="534924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CapTipper-дампе бинарные поля (response_body, hexpeek, peinfo) могут содержать невалидные UTF-8 байты. Чтение через raw + iconv с sub="" гарантирует, что fromJSON не упадёт на «битых» символах.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RPRoject-ng · ETL-механизм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91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ЭТАП 2.1 · PARSING.R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— разбор JSON CapTipper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CapTipper-дамп содержит четыре логических раздела. Каждый разворачивается в свою плоскую таблицу.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5778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64008" cy="19202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47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716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dataset_info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743200"/>
            <a:ext cx="845820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743200"/>
            <a:ext cx="845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pcap_file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650492" y="2743200"/>
            <a:ext cx="1467612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50492" y="2743200"/>
            <a:ext cx="14676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captipper_version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191256" y="2743200"/>
            <a:ext cx="1156716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91256" y="2743200"/>
            <a:ext cx="11567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analysis_time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421124" y="2743200"/>
            <a:ext cx="1078992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21124" y="27432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traffic_time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3063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Метаданные дампа: имя PCAP-файла, версия инструмента, время анализа и время начала трафика.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63640" y="1783080"/>
            <a:ext cx="55778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1783080"/>
            <a:ext cx="64008" cy="19202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011680"/>
            <a:ext cx="502920" cy="5029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132320" y="1947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713232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client_attributes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492240" y="274320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92240" y="27432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attribute_name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7799832" y="2743200"/>
            <a:ext cx="1312164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799832" y="2743200"/>
            <a:ext cx="13121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attribute_value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492240" y="3063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HTTP-атрибуты клиента (User-Agent, Accept, Accept-Language…). Разворачиваются в формат «ключ-значение».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502920" y="3867912"/>
            <a:ext cx="55778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02920" y="3867912"/>
            <a:ext cx="64008" cy="19202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96512"/>
            <a:ext cx="502920" cy="5029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371600" y="40325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flow_tree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1371600" y="4416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flow_edges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731520" y="4828032"/>
            <a:ext cx="1001268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31520" y="4828032"/>
            <a:ext cx="1001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parent_name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1805940" y="4828032"/>
            <a:ext cx="923544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1805940" y="4828032"/>
            <a:ext cx="923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child_name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2802636" y="4828032"/>
            <a:ext cx="534924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2802636" y="4828032"/>
            <a:ext cx="5349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3410712" y="4828032"/>
            <a:ext cx="845820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3410712" y="4828032"/>
            <a:ext cx="845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root_name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329684" y="4828032"/>
            <a:ext cx="457200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329684" y="4828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731520" y="51480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потоков «родитель → потомок». Разворачивается в список рёбер с глубиной и полным путём от корня.</a:t>
            </a:r>
            <a:endParaRPr lang="en-US" sz="1150" dirty="0"/>
          </a:p>
        </p:txBody>
      </p:sp>
      <p:sp>
        <p:nvSpPr>
          <p:cNvPr id="46" name="Shape 41"/>
          <p:cNvSpPr/>
          <p:nvPr/>
        </p:nvSpPr>
        <p:spPr>
          <a:xfrm>
            <a:off x="6263640" y="3867912"/>
            <a:ext cx="55778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6263640" y="3867912"/>
            <a:ext cx="64008" cy="192024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096512"/>
            <a:ext cx="502920" cy="50292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7132320" y="40325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conversations</a:t>
            </a:r>
            <a:endParaRPr lang="en-US" sz="1800" dirty="0"/>
          </a:p>
        </p:txBody>
      </p:sp>
      <p:sp>
        <p:nvSpPr>
          <p:cNvPr id="50" name="Text 44"/>
          <p:cNvSpPr/>
          <p:nvPr/>
        </p:nvSpPr>
        <p:spPr>
          <a:xfrm>
            <a:off x="7132320" y="4416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conversation_artifacts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6492240" y="4828032"/>
            <a:ext cx="379476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6492240" y="4828032"/>
            <a:ext cx="3794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6944868" y="4828032"/>
            <a:ext cx="612648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6944868" y="4828032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7630668" y="4828032"/>
            <a:ext cx="612648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7630668" y="4828032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8316468" y="4828032"/>
            <a:ext cx="923544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8316468" y="4828032"/>
            <a:ext cx="923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md5/sha256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9313164" y="4828032"/>
            <a:ext cx="534924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9313164" y="4828032"/>
            <a:ext cx="5349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magic</a:t>
            </a:r>
            <a:endParaRPr lang="en-US" sz="1000" dirty="0"/>
          </a:p>
        </p:txBody>
      </p:sp>
      <p:sp>
        <p:nvSpPr>
          <p:cNvPr id="61" name="Shape 55"/>
          <p:cNvSpPr/>
          <p:nvPr/>
        </p:nvSpPr>
        <p:spPr>
          <a:xfrm>
            <a:off x="9921240" y="4828032"/>
            <a:ext cx="612648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9921240" y="4828032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peinfo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10607040" y="4828032"/>
            <a:ext cx="379476" cy="292608"/>
          </a:xfrm>
          <a:prstGeom prst="roundRect">
            <a:avLst>
              <a:gd name="adj" fmla="val 15625"/>
            </a:avLst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10607040" y="4828032"/>
            <a:ext cx="3794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/>
          </a:p>
        </p:txBody>
      </p:sp>
      <p:sp>
        <p:nvSpPr>
          <p:cNvPr id="65" name="Text 59"/>
          <p:cNvSpPr/>
          <p:nvPr/>
        </p:nvSpPr>
        <p:spPr>
          <a:xfrm>
            <a:off x="6492240" y="51480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таблица: HTTP-запрос/ответ, тело, заголовки, хеши, magic-сигнатура, PE-info. 36 атрибутов.</a:t>
            </a:r>
            <a:endParaRPr lang="en-US" sz="1150" dirty="0"/>
          </a:p>
        </p:txBody>
      </p:sp>
      <p:sp>
        <p:nvSpPr>
          <p:cNvPr id="66" name="Text 60"/>
          <p:cNvSpPr/>
          <p:nvPr/>
        </p:nvSpPr>
        <p:spPr>
          <a:xfrm>
            <a:off x="502920" y="59253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раздела JSON </a:t>
            </a: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нормализованных data.frame, готовых к </a:t>
            </a: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DBI::dbWriteTable()</a:t>
            </a:r>
            <a:endParaRPr lang="en-US" sz="1400" dirty="0"/>
          </a:p>
        </p:txBody>
      </p:sp>
      <p:sp>
        <p:nvSpPr>
          <p:cNvPr id="67" name="Text 61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RPRoject-ng · ETL-механизм</a:t>
            </a:r>
            <a:endParaRPr lang="en-US" sz="900" dirty="0"/>
          </a:p>
        </p:txBody>
      </p:sp>
      <p:sp>
        <p:nvSpPr>
          <p:cNvPr id="68" name="Text 62"/>
          <p:cNvSpPr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91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ЭТАП 2.2 · NORMALIZATION.R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— нормализация типов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ТИПИЗИРУЮЩИЕ ПРЕОБРАЗОВАНИЯ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6949440" cy="292608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Поле (raw)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Источник (String)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Целевой тип ClickHouse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event_time_parsed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event_time_raw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Nullable(DateTime)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response_status_code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response_status_raw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Nullable(UInt16)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response_length_bytes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response_length_raw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Nullable(UInt64)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conversation_port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conversation_name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Nullable(UInt16)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server_port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server_host:port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Nullable(UInt16)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is_binary / is_executable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logical (R)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Nullable(UInt8)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 → "" (string)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*_raw, body, headers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7680960" y="155448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80960" y="1554480"/>
            <a:ext cx="64008" cy="14173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7830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4964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Явное приведение logical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54964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RClickhouse не маппит R-logical на Nullable(UInt8) автоматически — делаем as.integer() перед записью.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680960" y="310896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680960" y="3108960"/>
            <a:ext cx="64008" cy="14173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33375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4964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→ "" в String-полях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549640" y="3566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ClickHouse тип String не nullable. Пустая строка семантически вернее, чем \N: безопасно для агрегатов и фильтров.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680960" y="4663440"/>
            <a:ext cx="41148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680960" y="4663440"/>
            <a:ext cx="64008" cy="146304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489204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49640" y="4800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Сохранение «сырья»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549640" y="51206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*_raw поля сохраняются вместе с типизированными копиями: можно перерассчитать парсинг без повторного похода в S3.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RPRoject-ng · ETL-механизм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91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ЭТАП 3 · CLICKHOUSE_IO.R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— запись в ClickHouse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2120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64008" cy="132588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Идемпотентность DDL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2103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четыре таблицы создаются через CREATE TABLE IF NOT EXISTS на старте пайплайна. Повторный запуск не разрушает данные.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3044952"/>
            <a:ext cx="52120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3044952"/>
            <a:ext cx="64008" cy="132588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19272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227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Append-семантика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17320" y="359359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DBI::dbWriteTable(append = TRUE, row.names = FALSE) — каждый запуск добавляет новый дамп к историческим данным.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02920" y="4535424"/>
            <a:ext cx="52120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02920" y="4535424"/>
            <a:ext cx="64008" cy="132588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09744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47183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Защитные проверки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417320" y="508406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insert-функция проверяет nrow == 0 и пишет warning. Каждое исключение оборачивается в tryCatch с подробным stop().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943600" y="1554480"/>
            <a:ext cx="5852160" cy="4572000"/>
          </a:xfrm>
          <a:prstGeom prst="rect">
            <a:avLst/>
          </a:prstGeom>
          <a:solidFill>
            <a:srgbClr val="0B1929"/>
          </a:solidFill>
          <a:ln/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943600" y="1554480"/>
            <a:ext cx="5852160" cy="365760"/>
          </a:xfrm>
          <a:prstGeom prst="rect">
            <a:avLst/>
          </a:prstGeom>
          <a:solidFill>
            <a:srgbClr val="11253E"/>
          </a:solidFill>
          <a:ln/>
        </p:spPr>
      </p:sp>
      <p:sp>
        <p:nvSpPr>
          <p:cNvPr id="22" name="Shape 17"/>
          <p:cNvSpPr/>
          <p:nvPr/>
        </p:nvSpPr>
        <p:spPr>
          <a:xfrm>
            <a:off x="6080760" y="1673352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Shape 18"/>
          <p:cNvSpPr/>
          <p:nvPr/>
        </p:nvSpPr>
        <p:spPr>
          <a:xfrm>
            <a:off x="6281928" y="167335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Shape 19"/>
          <p:cNvSpPr/>
          <p:nvPr/>
        </p:nvSpPr>
        <p:spPr>
          <a:xfrm>
            <a:off x="6483096" y="167335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0"/>
          <p:cNvSpPr/>
          <p:nvPr/>
        </p:nvSpPr>
        <p:spPr>
          <a:xfrm>
            <a:off x="685800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clickhouse_io.R · insert_normalized_data()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172200" y="201168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(RClickhouse)
</a:t>
            </a:r>
            <a:r>
              <a:rPr lang="en-US" sz="11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подключение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&lt;- </a:t>
            </a: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DBI::dbConnect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RClickhouse::clickhouse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
  host=…, port=8123, db=…
)
</a:t>
            </a:r>
            <a:r>
              <a:rPr lang="en-US" sz="11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идемпотентный DDL
</a:t>
            </a: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create_all_tables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(conn)
  ├─ dataset_info
  ├─ client_attributes
  ├─ flow_edges
  └─ conversation_artifacts
</a:t>
            </a:r>
            <a:r>
              <a:rPr lang="en-US" sz="11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вставка
</a:t>
            </a:r>
            <a:r>
              <a:rPr lang="en-US" sz="1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DBI::dbWriteTable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(conn,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"conversation_artifacts",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artifacts,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append=</a:t>
            </a: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RPRoject-ng · ETL-механизм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91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СХЕМА ВИТРИНЫ · MERGETREE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Целевые таблицы ClickHouse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6235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5623560" cy="54864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830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dataset_info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754880" y="1847088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18470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поля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24231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(pcap_file)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27889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экземпляр метаданных на дамп. Версия CapTipper, время анализа, время трафика.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91072" y="1554480"/>
            <a:ext cx="56235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91072" y="1554480"/>
            <a:ext cx="5623560" cy="54864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8288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05472" y="17830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client_attributes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10543032" y="1847088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/>
        </p:spPr>
      </p:sp>
      <p:sp>
        <p:nvSpPr>
          <p:cNvPr id="18" name="Text 14"/>
          <p:cNvSpPr/>
          <p:nvPr/>
        </p:nvSpPr>
        <p:spPr>
          <a:xfrm>
            <a:off x="10543032" y="18470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поля (KV)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565392" y="24231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(attribute_name)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565392" y="27889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HTTP-атрибуты клиента в формате «ключ-значение». User-Agent, Accept, Accept-Language…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02920" y="3822192"/>
            <a:ext cx="56235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02920" y="3822192"/>
            <a:ext cx="5623560" cy="54864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96512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17320" y="40507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flow_edges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4754880" y="411480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/>
        </p:spPr>
      </p:sp>
      <p:sp>
        <p:nvSpPr>
          <p:cNvPr id="26" name="Text 21"/>
          <p:cNvSpPr/>
          <p:nvPr/>
        </p:nvSpPr>
        <p:spPr>
          <a:xfrm>
            <a:off x="4754880" y="4114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полей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77240" y="469087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(parent_name, child_name)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777240" y="5056632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Рёбра дерева потоков. Глубина, имя корня и полный путь — для воссоздания связей.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291072" y="3822192"/>
            <a:ext cx="56235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291072" y="3822192"/>
            <a:ext cx="562356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4096512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205472" y="40507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conversation_artifacts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10543032" y="411480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/>
        </p:spPr>
      </p:sp>
      <p:sp>
        <p:nvSpPr>
          <p:cNvPr id="34" name="Text 28"/>
          <p:cNvSpPr/>
          <p:nvPr/>
        </p:nvSpPr>
        <p:spPr>
          <a:xfrm>
            <a:off x="10543032" y="4114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полей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565392" y="469087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(conversation_idx, uri_idx)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565392" y="5056632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таблица. URI, метод, статус, заголовки, тело (raw + base64), md5, sha256, magic, peinfo.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502920" y="5989320"/>
            <a:ext cx="11201400" cy="365760"/>
          </a:xfrm>
          <a:prstGeom prst="rect">
            <a:avLst/>
          </a:prstGeom>
          <a:solidFill>
            <a:srgbClr val="11253E"/>
          </a:solidFill>
          <a:ln/>
        </p:spPr>
      </p:sp>
      <p:sp>
        <p:nvSpPr>
          <p:cNvPr id="38" name="Text 32"/>
          <p:cNvSpPr/>
          <p:nvPr/>
        </p:nvSpPr>
        <p:spPr>
          <a:xfrm>
            <a:off x="68580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 = MergeTree()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колоночное хранение, эффективные range-сканы, асинхронные мерджи — выбор по умолчанию для аналитики временного ряда.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RPRoject-ng · ETL-механизм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91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РАЗВЁРТЫВАНИЕ · DOCKER COMPOSE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Контейнеризация и запуск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943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373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194560"/>
            <a:ext cx="5394960" cy="14173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231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395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etl-сервис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2743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rocker/tidyverse:4.3.2 + jsonlite + RClickhouse + DBI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54480" y="3017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точка входа: Rscript /app/R/main.R &lt;bucket&gt; &lt;item&gt;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554480" y="3291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читает .env, скачивает дамп, нормализует, пишет в БД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3611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⇅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77240" y="3977640"/>
            <a:ext cx="5394960" cy="141732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062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41788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clickhouse-сервис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554480" y="4526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официальный образ ClickHouse, порт 8123 (HTTP)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554480" y="4800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таблицы автоматически (+1 при Zeek)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554480" y="5074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принимает данные через DBI/HTTP-интерфейс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120" y="1554480"/>
            <a:ext cx="5120640" cy="1920240"/>
          </a:xfrm>
          <a:prstGeom prst="rect">
            <a:avLst/>
          </a:prstGeom>
          <a:solidFill>
            <a:srgbClr val="0B1929"/>
          </a:solidFill>
          <a:ln/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903720" y="1645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Quick start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903720" y="19659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.env.example .env
</a:t>
            </a: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-d --build
</a:t>
            </a: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etl
</a:t>
            </a: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 явными параметрами S3:
</a:t>
            </a: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etl </a:t>
            </a: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Rscript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R/main.R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&lt;bucket_url&gt; &lt;item_name&gt;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675120" y="3657600"/>
            <a:ext cx="51206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675120" y="3657600"/>
            <a:ext cx="64008" cy="246888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794760"/>
            <a:ext cx="411480" cy="4114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360920" y="37764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Конфигурация (.env)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4251960"/>
          <a:ext cx="4663440" cy="16687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S3_ENDPOINT_URL · AWS_ACCESS_KEY_ID · AWS_SECRET_ACCESS_KEY · S3_BUCKET · S3_PREFIX · S3_CONN_LOG_PREFIX · AWS_DEFAULT_REGION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CLICKHOUSE_HOST · _PORT · _USER · _PASSWORD · _DATABASE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Прочее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LOG_LEVEL (default INFO) · TZ (default UTC)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Text 2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RPRoject-ng · ETL-механизм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91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ОСОБЕННОСТИ РЕАЛИЗАЦИИ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важно знать инженеру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08760"/>
            <a:ext cx="64008" cy="2194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013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Идемпотентность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2560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IF NOT EXISTS + append-инсёрты. Перезапуск не разрушает данные, повторный дамп просто добавляется.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150876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1508760"/>
            <a:ext cx="64008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17830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9202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8013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Битый UTF-8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63440" y="2560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Бинарные поля (hexpeek, body) могут содержать невалидные байты. Решено через latin1 → iconv с sub="".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275320" y="150876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75320" y="1508760"/>
            <a:ext cx="64008" cy="2194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Shape 15"/>
          <p:cNvSpPr/>
          <p:nvPr/>
        </p:nvSpPr>
        <p:spPr>
          <a:xfrm>
            <a:off x="854964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19202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26880" y="18013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Тип-маппинг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549640" y="2560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RClickhouse не маппит R-logical → Nullable(UInt8). Делаем as.integer() на is_binary / is_executable.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02920" y="388620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" y="3886200"/>
            <a:ext cx="64008" cy="2194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Shape 20"/>
          <p:cNvSpPr/>
          <p:nvPr/>
        </p:nvSpPr>
        <p:spPr>
          <a:xfrm>
            <a:off x="777240" y="41605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9768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54480" y="4178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Совместимость env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777240" y="4937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Поддержаны и AWS_*, и легаси S3_*. Sys.getenv() с фолбэком — старые конфиги не нужно переписывать.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89120" y="388620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89120" y="3886200"/>
            <a:ext cx="64008" cy="21945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1" name="Shape 25"/>
          <p:cNvSpPr/>
          <p:nvPr/>
        </p:nvSpPr>
        <p:spPr>
          <a:xfrm>
            <a:off x="4663440" y="4160520"/>
            <a:ext cx="640080" cy="64008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429768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440680" y="4178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Логирование</a:t>
            </a:r>
            <a:endParaRPr lang="en-US" sz="1700" dirty="0"/>
          </a:p>
        </p:txBody>
      </p:sp>
      <p:sp>
        <p:nvSpPr>
          <p:cNvPr id="34" name="Text 27"/>
          <p:cNvSpPr/>
          <p:nvPr/>
        </p:nvSpPr>
        <p:spPr>
          <a:xfrm>
            <a:off x="4663440" y="4937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utils.R: info() / warning_log() / error_log(). Каждый шаг пайплайна (DDL, скачивание, инсёрт) логируется.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275320" y="388620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275320" y="3886200"/>
            <a:ext cx="64008" cy="2194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Shape 30"/>
          <p:cNvSpPr/>
          <p:nvPr/>
        </p:nvSpPr>
        <p:spPr>
          <a:xfrm>
            <a:off x="8549640" y="416052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4297680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326880" y="4178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Обработка ошибок</a:t>
            </a:r>
            <a:endParaRPr lang="en-US" sz="1700" dirty="0"/>
          </a:p>
        </p:txBody>
      </p:sp>
      <p:sp>
        <p:nvSpPr>
          <p:cNvPr id="40" name="Text 32"/>
          <p:cNvSpPr/>
          <p:nvPr/>
        </p:nvSpPr>
        <p:spPr>
          <a:xfrm>
            <a:off x="8549640" y="4937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операция в tryCatch. HTTP 4xx/5xx → stop с полным сообщением. Пустой файл → ранняя проверка size.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RPRoject-ng · ETL-механизм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91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ДАЁТ ПАЙПЛАЙН НА СТОРОНЕ АНАЛИТИКИ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Применение для DFIR / SOC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57988" y="155448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7988" y="1554480"/>
            <a:ext cx="370332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632308" y="178308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11253E"/>
          </a:solidFill>
          <a:ln/>
        </p:spPr>
      </p:sp>
      <p:sp>
        <p:nvSpPr>
          <p:cNvPr id="8" name="Text 6"/>
          <p:cNvSpPr/>
          <p:nvPr/>
        </p:nvSpPr>
        <p:spPr>
          <a:xfrm>
            <a:off x="632308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2308" y="2286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 индикаторов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2308" y="27889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по md5/sha256, magic_name, host из conversation_artifacts — мгновенная проверка по корпоративным IOC-фидам.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44188" y="155448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44188" y="1554480"/>
            <a:ext cx="370332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18508" y="178308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11253E"/>
          </a:solidFill>
          <a:ln/>
        </p:spPr>
      </p:sp>
      <p:sp>
        <p:nvSpPr>
          <p:cNvPr id="14" name="Text 12"/>
          <p:cNvSpPr/>
          <p:nvPr/>
        </p:nvSpPr>
        <p:spPr>
          <a:xfrm>
            <a:off x="4518508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18508" y="2286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 exploit-kit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18508" y="27889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Реконструкция цепочки атаки через flow_edges (parent → child) + conversation_artifacts.uri даёт полный путь от drive-by до payload.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0388" y="1554480"/>
            <a:ext cx="37033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0388" y="1554480"/>
            <a:ext cx="370332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4708" y="178308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11253E"/>
          </a:solidFill>
          <a:ln/>
        </p:spPr>
      </p:sp>
      <p:sp>
        <p:nvSpPr>
          <p:cNvPr id="20" name="Text 18"/>
          <p:cNvSpPr/>
          <p:nvPr/>
        </p:nvSpPr>
        <p:spPr>
          <a:xfrm>
            <a:off x="8404708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04708" y="2286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Profiling payload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04708" y="27889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 peinfo_raw, magic_ext, is_executable, hexpeek позволяют классифицировать сэмплы без выгрузки бинарей наружу.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931920"/>
            <a:ext cx="11201400" cy="2194560"/>
          </a:xfrm>
          <a:prstGeom prst="rect">
            <a:avLst/>
          </a:prstGeom>
          <a:solidFill>
            <a:srgbClr val="0B1929"/>
          </a:solidFill>
          <a:ln/>
          <a:effectLst>
            <a:outerShdw blurRad="152400" dist="38100" dir="5400000" algn="bl" rotWithShape="0">
              <a:srgbClr val="0F172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931920"/>
            <a:ext cx="11201400" cy="365760"/>
          </a:xfrm>
          <a:prstGeom prst="rect">
            <a:avLst/>
          </a:prstGeom>
          <a:solidFill>
            <a:srgbClr val="11253E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clickhouse-client · поиск всех PE-payload, отданных за конкретным URI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4389120"/>
            <a:ext cx="10972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conversation_host, server_ip_raw, uri, sha256, magic_name, response_length_bytes
</a:t>
            </a:r>
            <a:r>
              <a:rPr lang="en-US" sz="13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conversation_artifacts
</a:t>
            </a:r>
            <a:r>
              <a:rPr lang="en-US" sz="13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is_executable =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magic_name </a:t>
            </a:r>
            <a:r>
              <a:rPr lang="en-US" sz="13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ILIKE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'%PE32%'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event_time_parsed &gt;=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now() - INTERVAL 7 DAY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response_length_bytes </a:t>
            </a:r>
            <a:r>
              <a:rPr lang="en-US" sz="13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RPRoject-ng · ETL-механизм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ИТОГИ И НАПРАВЛЕНИЯ РАЗВИТИЯ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92328" y="2011680"/>
            <a:ext cx="3291840" cy="1920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2328" y="20574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4+1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975208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ETL-таблицы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5208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опциональная (Zeek conn.log)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49928" y="2011680"/>
            <a:ext cx="3291840" cy="1920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9928" y="20574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7000" dirty="0"/>
          </a:p>
        </p:txBody>
      </p:sp>
      <p:sp>
        <p:nvSpPr>
          <p:cNvPr id="12" name="Text 10"/>
          <p:cNvSpPr/>
          <p:nvPr/>
        </p:nvSpPr>
        <p:spPr>
          <a:xfrm>
            <a:off x="4632808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R-модулей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одной точкой входа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2808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main.R оркестрирует пайплайн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7528" y="2011680"/>
            <a:ext cx="3291840" cy="1920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07528" y="20574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7000" dirty="0"/>
          </a:p>
        </p:txBody>
      </p:sp>
      <p:sp>
        <p:nvSpPr>
          <p:cNvPr id="16" name="Text 14"/>
          <p:cNvSpPr/>
          <p:nvPr/>
        </p:nvSpPr>
        <p:spPr>
          <a:xfrm>
            <a:off x="8290408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атрибутов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HTTP-конверсацию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90408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типизированные дубликаты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НАПРАВЛЕНИЯ РАЗВИТИЯ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6177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Партиционирование MergeTree по toYYYYMM(event_time_parsed) для быстрых time-range фильтров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ru-RU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модуля анализа траффика для поиска возможных вредоносных пакетов и данных.</a:t>
            </a: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tcp_sessions ⨝ conversation_artifacts по Zeek uid (сейчас джоин по 5-tuple — h/p/h/p/ts)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 с агрегатами по host / magic_name для </a:t>
            </a:r>
            <a:r>
              <a:rPr lang="en-US" sz="13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дашборда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SOC</a:t>
            </a:r>
            <a:endParaRPr lang="ru-RU" sz="13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6263640"/>
            <a:ext cx="10972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Вахрамеев Александр  ·  Пришедько Ярослав  ·  Кобяк Михаил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05695" y="6355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2129</Words>
  <Application>Microsoft Macintosh PowerPoint</Application>
  <PresentationFormat>Widescreen</PresentationFormat>
  <Paragraphs>330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ETL-механизм RPRoject-ng</dc:title>
  <dc:subject>PptxGenJS Presentation</dc:subject>
  <dc:creator>Вахрамеев А., Пришедько Я., Кобяк М.</dc:creator>
  <cp:lastModifiedBy>lir1ka</cp:lastModifiedBy>
  <cp:revision>4</cp:revision>
  <dcterms:created xsi:type="dcterms:W3CDTF">2026-04-25T09:38:34Z</dcterms:created>
  <dcterms:modified xsi:type="dcterms:W3CDTF">2026-04-25T09:44:07Z</dcterms:modified>
</cp:coreProperties>
</file>