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548640"/>
            <a:ext cx="822960" cy="8229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46920" y="548640"/>
            <a:ext cx="822960" cy="8229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07040" y="548640"/>
            <a:ext cx="822960" cy="8229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0" y="1508760"/>
            <a:ext cx="822960" cy="8229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46920" y="1508760"/>
            <a:ext cx="822960" cy="8229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0" y="1508760"/>
            <a:ext cx="822960" cy="822960"/>
          </a:xfrm>
          <a:prstGeom prst="rect">
            <a:avLst/>
          </a:prstGeom>
          <a:solidFill>
            <a:srgbClr val="1E293B"/>
          </a:solidFill>
          <a:ln w="635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607040" y="1554480"/>
            <a:ext cx="365760" cy="36576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6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ВЫПУСКНОЙ ПРОЕКТ  ·  КАФЕДРА ИБ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18288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RPR IPS</a:t>
            </a:r>
            <a:endParaRPr lang="en-US" sz="8800" dirty="0"/>
          </a:p>
        </p:txBody>
      </p:sp>
      <p:sp>
        <p:nvSpPr>
          <p:cNvPr id="12" name="Text 10"/>
          <p:cNvSpPr/>
          <p:nvPr/>
        </p:nvSpPr>
        <p:spPr>
          <a:xfrm>
            <a:off x="914400" y="320040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Гибридная система обнаружения сетевых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вторжений с двухконтурным детектором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914400" y="4572000"/>
            <a:ext cx="73152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проекта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50749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Кобяк Михаил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Пришедько Ярослав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Вахрамеев Александр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858000" y="5074920"/>
            <a:ext cx="502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РТУ МИРЭА</a:t>
            </a:r>
            <a:endParaRPr lang="en-US" sz="1600" dirty="0"/>
          </a:p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БИСО-01-22</a:t>
            </a:r>
            <a:endParaRPr lang="en-US" sz="1600" dirty="0"/>
          </a:p>
          <a:p>
            <a:pPr indent="0" marL="0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github.com/FrakenboK/RPRoject-ng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 И КОНТЕКСТ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Современная атакующая поверхность требует двух взглядов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7315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403708" y="1554480"/>
            <a:ext cx="361188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03708" y="1554480"/>
            <a:ext cx="361188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8028" y="19202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678028" y="31089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Объёмы трафика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78028" y="370332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Сети генерируют миллионы flow-записей в сутки. Ручной разбор и табличные дампы не масштабируются.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89908" y="1554480"/>
            <a:ext cx="361188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89908" y="1554480"/>
            <a:ext cx="361188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64228" y="19202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4564228" y="31089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Известные атаки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64228" y="370332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Сигнатурные правила (Sigma, Suricata-подобные) надёжно ловят известные шаблоны, но молчат при новых TTP.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76108" y="1554480"/>
            <a:ext cx="3611880" cy="4114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176108" y="1554480"/>
            <a:ext cx="361188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50428" y="192024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600" dirty="0"/>
          </a:p>
        </p:txBody>
      </p:sp>
      <p:sp>
        <p:nvSpPr>
          <p:cNvPr id="19" name="Text 17"/>
          <p:cNvSpPr/>
          <p:nvPr/>
        </p:nvSpPr>
        <p:spPr>
          <a:xfrm>
            <a:off x="8450428" y="3108960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Аномалии и 0-day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450428" y="3703320"/>
            <a:ext cx="30632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Сканирование портов, latera­l movement, ботнет-маяки часто видны только статистически — поведенческой моделью.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48640" y="5852160"/>
            <a:ext cx="11094415" cy="5486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5852160"/>
            <a:ext cx="105457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 — IPS с двумя независимыми контурами, объединёнными в единой ленте сработок и аналитическом UI.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RPR IPS  ·  БИСО-01-22  ·  РТУ МИРЭА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ПРОДУКТ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RPR IPS — единая среда расследования сетевого трафика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7315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63040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1828800"/>
            <a:ext cx="5943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Веб-приложение, которое забирает сетевые дампы из объектного хранилища, прогоняет их через сигнатурный и поведенческий детекторы и собирает все артефакты в единый дашборд.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3108960"/>
            <a:ext cx="5943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 не переключается между tcpdump, IDS-логами и SIEM-консолью — все сработки, потоки и метрики доступны в одном окне с привязкой к исходному дампу.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663440"/>
            <a:ext cx="5943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Гибридное обнаружение — сигнатуры и ML в одном UI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Хранилище аналитики на ClickHouse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Веб-интерфейс без установки агентов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 к большим объёмам — миллионы flow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315200" y="1463040"/>
            <a:ext cx="4297680" cy="48463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315200" y="1463040"/>
            <a:ext cx="91440" cy="4846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0" y="17373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цифрах одного прогона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680960" y="224028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 М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7680960" y="2743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сетевых flow обработано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80960" y="320040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35 733</a:t>
            </a:r>
            <a:endParaRPr lang="en-US" sz="3400" dirty="0"/>
          </a:p>
        </p:txBody>
      </p:sp>
      <p:sp>
        <p:nvSpPr>
          <p:cNvPr id="16" name="Text 14"/>
          <p:cNvSpPr/>
          <p:nvPr/>
        </p:nvSpPr>
        <p:spPr>
          <a:xfrm>
            <a:off x="7680960" y="37033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сработки в ленте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680960" y="416052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7680960" y="46634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независимых детектора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680960" y="51206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400" dirty="0"/>
          </a:p>
        </p:txBody>
      </p:sp>
      <p:sp>
        <p:nvSpPr>
          <p:cNvPr id="20" name="Text 18"/>
          <p:cNvSpPr/>
          <p:nvPr/>
        </p:nvSpPr>
        <p:spPr>
          <a:xfrm>
            <a:off x="7680960" y="56235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эталонных датасета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RPR IPS  ·  БИСО-01-22  ·  РТУ МИРЭА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 ДАННЫХ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устроен путь данных — от дампа до сработки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7315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426568" y="1554480"/>
            <a:ext cx="2697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272388" y="2011680"/>
            <a:ext cx="1005840" cy="10058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72388" y="2011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655168" y="33375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из S3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5168" y="40233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PCAP/ZIP-дампы трафика лежат в объектном хранилище. Источник один — воспроизводимость и аудит.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 rot="5400000">
            <a:off x="3142336" y="3429000"/>
            <a:ext cx="182880" cy="182880"/>
          </a:xfrm>
          <a:prstGeom prst="rtTriangl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06928" y="1554480"/>
            <a:ext cx="2697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152748" y="2011680"/>
            <a:ext cx="1005840" cy="10058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52748" y="2011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3535528" y="33375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Парсинг и нормализация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3535528" y="40233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Flow, TCP-сессии и метаданные приводятся к единой схеме без потерь смыслового контекста.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 rot="5400000">
            <a:off x="6022696" y="3429000"/>
            <a:ext cx="182880" cy="182880"/>
          </a:xfrm>
          <a:prstGeom prst="rtTriangl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87288" y="1554480"/>
            <a:ext cx="2697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033108" y="2011680"/>
            <a:ext cx="1005840" cy="10058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33108" y="2011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6415888" y="33375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детектора параллельно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15888" y="40233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Сигнатурный (Sigma-подобные правила) и поведенческий (ML) видят одни и те же данные независимо.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 rot="5400000">
            <a:off x="8903056" y="3429000"/>
            <a:ext cx="182880" cy="182880"/>
          </a:xfrm>
          <a:prstGeom prst="rtTriangl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67648" y="1554480"/>
            <a:ext cx="26974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9913468" y="2011680"/>
            <a:ext cx="1005840" cy="10058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913468" y="201168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9296248" y="333756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Витрина и дашборд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9296248" y="40233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Сработки и метрики складываются в ClickHouse и сразу видны в веб-интерфейсе RPR IPS.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48640" y="594360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Единый канал данных гарантирует, что сигнатурный и поведенческий контуры рассуждают об одних и тех же событиях.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RPR IPS  ·  БИСО-01-22  ·  РТУ МИРЭА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ДЕТЕКТОРА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Сигнатурный + Поведенческий — что именно ловит каждый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7315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63040"/>
            <a:ext cx="55321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63040"/>
            <a:ext cx="5532120" cy="5486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819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1945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Сигнатурный детектор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822960" y="269748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Правила в формате Sigma — точные паттерны известных атак.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3429000"/>
            <a:ext cx="4983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Failed Access — перебор учётных данных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Suspicious HTTP — характерные индикаторы C2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Высокая точность, низкое время на отклик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Понятная мотивация сработки для аналитика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22960" y="5440680"/>
            <a:ext cx="4983480" cy="822960"/>
          </a:xfrm>
          <a:prstGeom prst="rect">
            <a:avLst/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55046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35 640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291840" y="550468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сигнатурных сработок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1463040"/>
            <a:ext cx="5532120" cy="4937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63640" y="1463040"/>
            <a:ext cx="5532120" cy="5486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15819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537960" y="219456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Поведенческий детектор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537960" y="2697480"/>
            <a:ext cx="4983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Связка DBSCAN + LOF + Isolation Forest — статистические аномалии в flow.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537960" y="3429000"/>
            <a:ext cx="4983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Host Scan — горизонтальное сканирование сети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Vertical Port Scan — перебор портов на одном хосте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Аномалии без публичной сигнатуры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Confidence-score для приоритизации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537960" y="5440680"/>
            <a:ext cx="4983480" cy="822960"/>
          </a:xfrm>
          <a:prstGeom prst="rect">
            <a:avLst/>
          </a:prstGeom>
          <a:solidFill>
            <a:srgbClr val="FFEDD5"/>
          </a:solidFill>
          <a:ln w="12700">
            <a:solidFill>
              <a:srgbClr val="FFED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675120" y="5504688"/>
            <a:ext cx="2286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006840" y="5504688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поведенческих сработки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RPR IPS  ·  БИСО-01-22  ·  РТУ МИРЭА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ДАШБОРД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Вкладка «Обзор» — состояние системы за один взгляд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7315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417320"/>
            <a:ext cx="8321040" cy="47409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" name="Image 0" descr="01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8229600" cy="46494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0" y="1463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показывает экран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0" y="1828800"/>
            <a:ext cx="2651760" cy="411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Объём обработанных flow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Сколько объектов S3 поднято в анализ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Распределение по severity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Перекос medium/high сразу виден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Срез по типу детектора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 и Behavioral — раздельно</a:t>
            </a:r>
            <a:endParaRPr lang="en-US" sz="13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ClickHouse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Видно, что витрина онлайн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RPR IPS  ·  БИСО-01-22  ·  РТУ МИРЭА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ИНЦИДЕНТОВ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Вкладка «Сработки» — единая лента с многомерными фильтрами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7315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417320"/>
            <a:ext cx="8321040" cy="474093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" name="Image 0" descr="02_aler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8229600" cy="46494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0" y="1463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Фильтры в один клик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0" y="1828800"/>
            <a:ext cx="26517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 детектора — signature / behavioral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— от critical до low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Формат источника — pcap / zip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Датасет — Kyoto, StratosphereIPS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src_ip / dst_ip / source_key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0" y="43891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аналитик видит сразу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0" y="475488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detection_id для трассировки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Имя правила и rule_id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и confidence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RPR IPS  ·  БИСО-01-22  ·  РТУ МИРЭА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ДРИЛЛ-ДАУН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Вкладка «Детализация» — от сработки к исходным TCP-сессиям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7315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417320"/>
            <a:ext cx="8321040" cy="476734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" name="Image 0" descr="03_det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8229600" cy="467590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0" y="1463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Карточка инцидента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0" y="1828800"/>
            <a:ext cx="2651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Правило: Horizontal Host Scan Candidate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high, confidence 0.99</a:t>
            </a:r>
            <a:endParaRPr lang="en-US" sz="11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Источник: stratosphereips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CTU-Malware-Capture-Botnet-284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0" y="3657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Связанные сессии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0" y="4023360"/>
            <a:ext cx="2651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flow_count — 4 850 сессий в инциденте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/ last seen — окно атаки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TCP-сессии видны построчно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Прямой переход из ленты — без поиска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RPR IPS  ·  БИСО-01-22  ·  РТУ МИРЭА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ВИЗУАЛЬНАЯ КАРТА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Временная шкала сессий — сканирование портов «как на ладони»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7315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417320"/>
            <a:ext cx="11155680" cy="3106219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" name="Image 0" descr="04_gant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11064240" cy="301477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4935019"/>
            <a:ext cx="361188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48640" y="4935019"/>
            <a:ext cx="73152" cy="13716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5072179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Сплошная красная стена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77240" y="5483659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Сессии массово завершаются REJ/RST/S0/SH — отказы соединений.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51960" y="4935019"/>
            <a:ext cx="361188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51960" y="4935019"/>
            <a:ext cx="73152" cy="1371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80560" y="5072179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источник, много целей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4480560" y="5483659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192.168.1.112 идёт по разным IP на порт 445 — горизонтальный скан SMB.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955280" y="4935019"/>
            <a:ext cx="361188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7955280" y="4935019"/>
            <a:ext cx="73152" cy="13716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183880" y="5072179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Сжатый по времени всплеск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8183880" y="5483659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20+ попыток укладываются в считанные секунды — автоматизированный инструмент.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RPR IPS  ·  БИСО-01-22  ·  РТУ МИРЭА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ВО ВРЕМЕНИ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Вкладка «Трафик» — корреляция нагрузки и всплесков сработок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7315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417320"/>
            <a:ext cx="8321040" cy="384924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" name="Image 0" descr="05_traff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8229600" cy="37578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0" y="1463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даёт совмещение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0" y="1828800"/>
            <a:ext cx="2651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Сверху — flow и байты по времени. Снизу — всплески сработок по severity. На одной временной оси.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0" y="32918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Помогает ответить на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144000" y="3657600"/>
            <a:ext cx="2651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Совпал ли всплеск сработок с трафиковой аномалией?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какие окна стоит копать вручную?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ли периодичность (маяки ботнета)?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RPR IPS  ·  БИСО-01-22  ·  РТУ МИРЭА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HUNTING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talkers — кто шумит в сети и куда летит больше всего flow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7315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417320"/>
            <a:ext cx="8321040" cy="4268902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7" name="Image 0" descr="06_top_ip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8229600" cy="417746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0" y="1463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расследования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0" y="1828800"/>
            <a:ext cx="26517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src_ip — кандидаты на сканеры, ботов, инсайдеров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dst_ip — внешние сервисы и точки концентрации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uniq_dst / uniq_src — мера «широты охвата»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bytes_sum — объёмные выгрузки данных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9144000" y="4754880"/>
            <a:ext cx="2651760" cy="12801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6880" y="48463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IP — 1.8 млн flow, 15 ГБ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326880" y="53035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явный кандидат на ручной разбор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RPR IPS  ·  БИСО-01-22  ·  РТУ МИРЭА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 ДАННЫХ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каких данных училась и проверялась система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7315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463040"/>
            <a:ext cx="5532120" cy="4937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63040"/>
            <a:ext cx="553212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68680" y="210312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Kyoto-2006-plus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868680" y="288036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Сетевой трафик honeypot-стенда Университета Киото — атаки на реальные ловушки.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3931920"/>
            <a:ext cx="4892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лет наблюдений за реальными атаками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Эталонный набор для NIDS-исследований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Размеченный трафик — есть «правда»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Хорошо тренирует поведенческий контур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1463040"/>
            <a:ext cx="5532120" cy="49377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1463040"/>
            <a:ext cx="5532120" cy="91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737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583680" y="210312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StratosphereIPS / CTU-13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583680" y="2880360"/>
            <a:ext cx="4892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Дампы реальных ботнет-кампаний от лаборатории Stratosphere (Чехия).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583680" y="3931920"/>
            <a:ext cx="48920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Разные семейства malware и C2-сценарии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Включает Horizontal/Vertical scan, beaconing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PCAP-формат — совместим с RPR IPS «как есть»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Позволяет валидировать сигнатуры на боевом трафике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RPR IPS  ·  БИСО-01-22  ·  РТУ МИРЭА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64008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5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 КОНТРОЛЬНОГО ПРОГОНА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система показала на эталонных данных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03708" y="2194560"/>
            <a:ext cx="274320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03708" y="2194560"/>
            <a:ext cx="27432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03708" y="25603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8.8 М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403708" y="3977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сетевых flow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6588" y="44805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обработано из одного прогона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284068" y="2194560"/>
            <a:ext cx="274320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84068" y="2194560"/>
            <a:ext cx="27432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84068" y="25603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35 733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3284068" y="3977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сработки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66948" y="44805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сигнатурных + поведенческих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64428" y="2194560"/>
            <a:ext cx="274320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64428" y="2194560"/>
            <a:ext cx="27432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4428" y="25603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4 850</a:t>
            </a:r>
            <a:endParaRPr lang="en-US" sz="4800" dirty="0"/>
          </a:p>
        </p:txBody>
      </p:sp>
      <p:sp>
        <p:nvSpPr>
          <p:cNvPr id="18" name="Text 16"/>
          <p:cNvSpPr/>
          <p:nvPr/>
        </p:nvSpPr>
        <p:spPr>
          <a:xfrm>
            <a:off x="6164428" y="3977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связанных сессий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47308" y="44805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одном инциденте сканирования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044788" y="2194560"/>
            <a:ext cx="2743200" cy="3200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44788" y="2194560"/>
            <a:ext cx="274320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044788" y="256032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0.99</a:t>
            </a:r>
            <a:endParaRPr lang="en-US" sz="4800" dirty="0"/>
          </a:p>
        </p:txBody>
      </p:sp>
      <p:sp>
        <p:nvSpPr>
          <p:cNvPr id="23" name="Text 21"/>
          <p:cNvSpPr/>
          <p:nvPr/>
        </p:nvSpPr>
        <p:spPr>
          <a:xfrm>
            <a:off x="9044788" y="3977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227668" y="44805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высокоприоритетных сработок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5852160"/>
            <a:ext cx="10911535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98932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→ детекторы → витрина отработали на полной цепочке: дамп S3 → ClickHouse → дашборд.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СЦЕНАРИИ ПРИМЕНЕНИЯ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система приносит пользу прямо сейчас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7315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472288" y="1554480"/>
            <a:ext cx="365760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6608" y="1828800"/>
            <a:ext cx="86868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6608" y="182880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6608" y="2331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Дежурная смена SOC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46608" y="27889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Лента сработок и фильтры по severity заменяют грид-логи; Gantt видно даже без углубления в pcap.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67048" y="1554480"/>
            <a:ext cx="365760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41368" y="1828800"/>
            <a:ext cx="86868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41368" y="182880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DFIR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41368" y="2331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Разбор инцидента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41368" y="27889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Детализация связывает сработку с конкретными TCP-сессиями и исходным дампом — пригодна для отчёта.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61808" y="1554480"/>
            <a:ext cx="365760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36128" y="1828800"/>
            <a:ext cx="86868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36128" y="182880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336128" y="23317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Тюнинг правил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336128" y="278892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сигнатурного и поведенческого контуров помогает находить пробелы в сигнатурах и ложные срабатывания.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2288" y="4023360"/>
            <a:ext cx="365760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6608" y="4297680"/>
            <a:ext cx="86868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6608" y="42976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6608" y="4800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Учебный полигон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46608" y="52578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Готовые датасеты Kyoto и StratosphereIPS позволяют тренировать студентов без рисков для боевой сети.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267048" y="4023360"/>
            <a:ext cx="365760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41368" y="4297680"/>
            <a:ext cx="86868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41368" y="42976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41368" y="4800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hunting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541368" y="52578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talkers и аналитика трафика дают точки входа для гипотез о ботнетах и lateral movement.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061808" y="4023360"/>
            <a:ext cx="3657600" cy="2286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336128" y="4297680"/>
            <a:ext cx="868680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36128" y="429768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336128" y="480060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Аудит и retro-анализ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336128" y="52578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дампы хранятся в S3; прогон можно повторить с новыми правилами и сравнить результаты.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RPR IPS  ·  БИСО-01-22  ·  РТУ МИРЭА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11480"/>
            <a:ext cx="201168" cy="20116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841248" y="36576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ПЕРСПЕКТИВЫ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713232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Куда система может развиваться дальше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731520" cy="457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508760"/>
            <a:ext cx="777240" cy="777240"/>
          </a:xfrm>
          <a:prstGeom prst="ellipse">
            <a:avLst/>
          </a:prstGeom>
          <a:solidFill>
            <a:srgbClr val="D1FAE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5087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45920" y="1508760"/>
            <a:ext cx="9905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Стриминг в реальном времени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645920" y="1920240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 с пакетного режима S3 на потоковый источник (NetFlow, Kafka) для near-real-time обнаружения.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2468880"/>
            <a:ext cx="777240" cy="777240"/>
          </a:xfrm>
          <a:prstGeom prst="ellipse">
            <a:avLst/>
          </a:prstGeom>
          <a:solidFill>
            <a:srgbClr val="D1FAE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4688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645920" y="2468880"/>
            <a:ext cx="9905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Расширение набора детекторов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1645920" y="2880360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DNS-туннелирование, beaconing, exfiltration по объёму; новые поведенческие модели и Sigma-пакеты.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429000"/>
            <a:ext cx="777240" cy="777240"/>
          </a:xfrm>
          <a:prstGeom prst="ellipse">
            <a:avLst/>
          </a:prstGeom>
          <a:solidFill>
            <a:srgbClr val="D1FAE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42900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645920" y="3429000"/>
            <a:ext cx="9905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 SIEM и тикет-системой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645920" y="3840480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Экспорт сработок в стандартные форматы (CEF/ECS), webhook на инцидент, обогащение через TI-фиды.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389120"/>
            <a:ext cx="777240" cy="777240"/>
          </a:xfrm>
          <a:prstGeom prst="ellipse">
            <a:avLst/>
          </a:prstGeom>
          <a:solidFill>
            <a:srgbClr val="D1FAE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438912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645920" y="4389120"/>
            <a:ext cx="9905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MITRE ATT&amp;CK-маппинг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1645920" y="4800600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Привязка правил к техникам ATT&amp;CK — отчётность в терминах, понятных бизнесу и регулятору.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0080" y="5349240"/>
            <a:ext cx="777240" cy="777240"/>
          </a:xfrm>
          <a:prstGeom prst="ellipse">
            <a:avLst/>
          </a:prstGeom>
          <a:solidFill>
            <a:srgbClr val="D1FAE5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534924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45920" y="5349240"/>
            <a:ext cx="9905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Ролевая модель и аудит действий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1645920" y="5760720"/>
            <a:ext cx="9905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Многопользовательский режим, разграничение по командам, журнал расследований.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492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RPR IPS  ·  БИСО-01-22  ·  РТУ МИРЭА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94415" y="64922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12280"/>
            <a:ext cx="12191695" cy="457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28016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RPR IPS — гибридная система обнаружения сетевых вторжений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3200400"/>
            <a:ext cx="6858000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794760"/>
            <a:ext cx="64008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Кобяк Михаил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Пришедько Ярослав</a:t>
            </a:r>
            <a:endParaRPr lang="en-US" sz="18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Вахрамеев Александр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680960" y="3200400"/>
            <a:ext cx="3840480" cy="301752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0" y="3200400"/>
            <a:ext cx="73152" cy="30175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0" y="34290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РЕПОЗИТОРИЙ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955280" y="37947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github.com/FrakenboK/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RPRoject-ng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955280" y="4937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УНИВЕРСИТЕТ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955280" y="530352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РТУ МИРЭА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Группа БИСО-01-22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0080" y="62179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 ответить на вопросы.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RPR IPS — защита проекта</dc:title>
  <dc:subject>PptxGenJS Presentation</dc:subject>
  <dc:creator>БИСО-01-22, РТУ МИРЭА</dc:creator>
  <cp:lastModifiedBy>БИСО-01-22, РТУ МИРЭА</cp:lastModifiedBy>
  <cp:revision>1</cp:revision>
  <dcterms:created xsi:type="dcterms:W3CDTF">2026-05-16T07:23:47Z</dcterms:created>
  <dcterms:modified xsi:type="dcterms:W3CDTF">2026-05-16T07:23:47Z</dcterms:modified>
</cp:coreProperties>
</file>