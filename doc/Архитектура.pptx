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fbdbafb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fbdbafb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fbdbafb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fbdbafb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fbdbafb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fbdbafb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ffbdbafb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ffbdbafb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fbdbafb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fbdbafb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research.unsw.edu.au/projects/unsw-nb15-dataset" TargetMode="External"/><Relationship Id="rId4" Type="http://schemas.openxmlformats.org/officeDocument/2006/relationships/hyperlink" Target="https://github.com/stratosphereips/StratosphereLinuxIPS" TargetMode="External"/><Relationship Id="rId5" Type="http://schemas.openxmlformats.org/officeDocument/2006/relationships/hyperlink" Target="https://www.kaggle.com/datasets/harshwardhanbhangale/kyoto-200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71575"/>
            <a:ext cx="8520600" cy="15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/>
              <a:t>Построение системы обнаружения вторжений</a:t>
            </a:r>
            <a:endParaRPr sz="29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442500" y="3212800"/>
            <a:ext cx="2701500" cy="13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Пришедько Ярослав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Кобяк Михаил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Вахрамеев Александр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 sz="1200"/>
            </a:br>
            <a:r>
              <a:rPr lang="ru" sz="1200"/>
              <a:t>БИСО-01-22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774950" y="194850"/>
            <a:ext cx="2446800" cy="87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/>
              <a:t>Архитектура</a:t>
            </a:r>
            <a:endParaRPr sz="2900"/>
          </a:p>
        </p:txBody>
      </p:sp>
      <p:pic>
        <p:nvPicPr>
          <p:cNvPr id="61" name="Google Shape;61;p14" title="Диаграмма без названия.drawio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350" y="1276350"/>
            <a:ext cx="65913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774950" y="194850"/>
            <a:ext cx="5914200" cy="87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/>
              <a:t>Обрабатываемые данные</a:t>
            </a:r>
            <a:endParaRPr sz="2900"/>
          </a:p>
        </p:txBody>
      </p:sp>
      <p:sp>
        <p:nvSpPr>
          <p:cNvPr id="67" name="Google Shape;67;p15"/>
          <p:cNvSpPr txBox="1"/>
          <p:nvPr>
            <p:ph type="ctrTitle"/>
          </p:nvPr>
        </p:nvSpPr>
        <p:spPr>
          <a:xfrm>
            <a:off x="1206075" y="1639100"/>
            <a:ext cx="7676100" cy="127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 u="sng">
                <a:solidFill>
                  <a:schemeClr val="hlink"/>
                </a:solidFill>
                <a:hlinkClick r:id="rId3"/>
              </a:rPr>
              <a:t>UNSW-NB15</a:t>
            </a:r>
            <a:endParaRPr sz="1800"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Датасеты и дампы трафика от </a:t>
            </a:r>
            <a:r>
              <a:rPr lang="ru" sz="1800" u="sng">
                <a:solidFill>
                  <a:schemeClr val="hlink"/>
                </a:solidFill>
                <a:hlinkClick r:id="rId4"/>
              </a:rPr>
              <a:t> Stratosphere IPS</a:t>
            </a:r>
            <a:endParaRPr sz="1800"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 u="sng">
                <a:solidFill>
                  <a:schemeClr val="hlink"/>
                </a:solidFill>
                <a:hlinkClick r:id="rId5"/>
              </a:rPr>
              <a:t>Kyoto 2006+</a:t>
            </a:r>
            <a:r>
              <a:rPr lang="ru" sz="1800"/>
              <a:t> </a:t>
            </a:r>
            <a:endParaRPr sz="1800"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etc</a:t>
            </a:r>
            <a:r>
              <a:rPr lang="ru" sz="1800"/>
              <a:t>…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774950" y="194850"/>
            <a:ext cx="5914200" cy="87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/>
              <a:t>ETL</a:t>
            </a:r>
            <a:endParaRPr sz="2900"/>
          </a:p>
        </p:txBody>
      </p:sp>
      <p:sp>
        <p:nvSpPr>
          <p:cNvPr id="73" name="Google Shape;73;p16"/>
          <p:cNvSpPr txBox="1"/>
          <p:nvPr>
            <p:ph type="ctrTitle"/>
          </p:nvPr>
        </p:nvSpPr>
        <p:spPr>
          <a:xfrm>
            <a:off x="1199850" y="1750625"/>
            <a:ext cx="7676100" cy="87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ru" sz="1800"/>
              <a:t>[E]</a:t>
            </a:r>
            <a:r>
              <a:rPr lang="ru" sz="1800"/>
              <a:t>xtract - tshark (PCAP -&gt; CSV)</a:t>
            </a:r>
            <a:endParaRPr sz="1800"/>
          </a:p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ru" sz="1800"/>
              <a:t>[T]</a:t>
            </a:r>
            <a:r>
              <a:rPr lang="ru" sz="1800"/>
              <a:t>ransform - R and Tideverse</a:t>
            </a:r>
            <a:endParaRPr sz="1800"/>
          </a:p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ru" sz="1800"/>
              <a:t>[L]</a:t>
            </a:r>
            <a:r>
              <a:rPr lang="ru" sz="1800"/>
              <a:t>oad - Clickhouse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774950" y="194850"/>
            <a:ext cx="5914200" cy="87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/>
              <a:t>Модуль обработки данных и ML</a:t>
            </a:r>
            <a:endParaRPr sz="2900"/>
          </a:p>
        </p:txBody>
      </p:sp>
      <p:sp>
        <p:nvSpPr>
          <p:cNvPr id="79" name="Google Shape;79;p17"/>
          <p:cNvSpPr txBox="1"/>
          <p:nvPr>
            <p:ph type="ctrTitle"/>
          </p:nvPr>
        </p:nvSpPr>
        <p:spPr>
          <a:xfrm>
            <a:off x="1015925" y="1128175"/>
            <a:ext cx="7676100" cy="31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/>
              <a:t>Сигнатурный анализ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Обнаружение в трафике опасных паттернов сетевого взаимодействия, например - различные CVE или трафик C2-агентов:</a:t>
            </a:r>
            <a:endParaRPr sz="1800"/>
          </a:p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Sigma Rules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/>
              <a:t>Поведенческий</a:t>
            </a:r>
            <a:r>
              <a:rPr b="1" lang="ru" sz="1800"/>
              <a:t> анализ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Обнаружение всплесков активности, например - сканирование nmap или nuclei</a:t>
            </a:r>
            <a:endParaRPr sz="1800"/>
          </a:p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DBSCAN</a:t>
            </a:r>
            <a:endParaRPr sz="1800"/>
          </a:p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LOF</a:t>
            </a:r>
            <a:endParaRPr sz="1800"/>
          </a:p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Isolation Forest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774950" y="194850"/>
            <a:ext cx="5914200" cy="87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/>
              <a:t>Модуль визуализации</a:t>
            </a:r>
            <a:endParaRPr sz="2900"/>
          </a:p>
        </p:txBody>
      </p:sp>
      <p:sp>
        <p:nvSpPr>
          <p:cNvPr id="85" name="Google Shape;85;p18"/>
          <p:cNvSpPr txBox="1"/>
          <p:nvPr>
            <p:ph type="ctrTitle"/>
          </p:nvPr>
        </p:nvSpPr>
        <p:spPr>
          <a:xfrm>
            <a:off x="1199850" y="1750625"/>
            <a:ext cx="7676100" cy="7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Shiny для Web-интерфейса</a:t>
            </a:r>
            <a:endParaRPr sz="1800"/>
          </a:p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Quarto для отчетов PDF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